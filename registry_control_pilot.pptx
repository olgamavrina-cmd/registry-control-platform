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app.xml" Type="http://schemas.openxmlformats.org/officeDocument/2006/relationships/extended-properties"/>
  <Relationship Id="rId3" Target="docProps/core.xml" Type="http://schemas.openxmlformats.org/package/2006/relationships/metadata/core-properties"/>
</Relationships>

</file>

<file path=ppt/presentation.xml><?xml version="1.0" encoding="utf-8"?>
<p:presentation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/>
  <p:notesSz cx="6858000" cy="9144000"/>
</p:presentation>
</file>

<file path=ppt/tableStyles.xml><?xml version="1.0" encoding="utf-8"?>
<a:tblStyleLs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_rels/presentation.xml.rels><?xml version="1.0" encoding="UTF-8" standalone="no" ?>
<Relationships xmlns="http://schemas.openxmlformats.org/package/2006/relationships">
  <Relationship Id="rId6" Target="slides/slide4.xml" Type="http://schemas.openxmlformats.org/officeDocument/2006/relationships/slide"/>
  <Relationship Id="rId1" Target="theme/theme1.xml" Type="http://schemas.openxmlformats.org/officeDocument/2006/relationships/theme"/>
  <Relationship Id="rId10" Target="slides/slide8.xml" Type="http://schemas.openxmlformats.org/officeDocument/2006/relationships/slide"/>
  <Relationship Id="rId2" Target="slideMasters/slideMaster1.xml" Type="http://schemas.openxmlformats.org/officeDocument/2006/relationships/slideMaster"/>
  <Relationship Id="rId3" Target="slides/slide1.xml" Type="http://schemas.openxmlformats.org/officeDocument/2006/relationships/slide"/>
  <Relationship Id="rId8" Target="slides/slide6.xml" Type="http://schemas.openxmlformats.org/officeDocument/2006/relationships/slide"/>
  <Relationship Id="rId4" Target="slides/slide2.xml" Type="http://schemas.openxmlformats.org/officeDocument/2006/relationships/slide"/>
  <Relationship Id="rId11" Target="tableStyles.xml" Type="http://schemas.openxmlformats.org/officeDocument/2006/relationships/tableStyles"/>
  <Relationship Id="rId9" Target="slides/slide7.xml" Type="http://schemas.openxmlformats.org/officeDocument/2006/relationships/slide"/>
  <Relationship Id="rId7" Target="slides/slide5.xml" Type="http://schemas.openxmlformats.org/officeDocument/2006/relationships/slide"/>
  <Relationship Id="rId5" Target="slides/slide3.xml" Type="http://schemas.openxmlformats.org/officeDocument/2006/relationships/slide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7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8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9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0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40" name="GroupShape 4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1" name="Shape 41"/>
          <p:cNvSpPr txBox="true"/>
          <p:nvPr isPhoto="false">
            <p:ph idx="0" type="title"/>
          </p:nvPr>
        </p:nvSpPr>
        <p:spPr>
          <a:xfrm flipH="false" flipV="false" rot="0"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42" name="Shape 42"/>
          <p:cNvSpPr txBox="true"/>
          <p:nvPr isPhoto="false">
            <p:ph idx="1" type="subTitle"/>
          </p:nvPr>
        </p:nvSpPr>
        <p:spPr>
          <a:xfrm flipH="false" flipV="false" rot="0"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defPPr/>
            <a:lvl1pPr algn="ctr" indent="0" lvl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lvl="1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lvl="2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lvl="3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lvl="4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lvl="5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lvl="6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lvl="7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lvl="8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hidden="false" id="43" name="Shape 4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44" name="Shape 44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45" name="Shape 4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70" name="GroupShape 7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1" name="Shape 71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72" name="Shape 72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73" name="Shape 7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74" name="Shape 74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75" name="Shape 7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secHead">
  <p:cSld name="Title and Subtitle">
    <p:spTree>
      <p:nvGrpSpPr>
        <p:cNvPr hidden="false" id="58" name="GroupShape 5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9" name="Shape 59"/>
          <p:cNvSpPr txBox="true"/>
          <p:nvPr isPhoto="false">
            <p:ph idx="0" type="title"/>
          </p:nvPr>
        </p:nvSpPr>
        <p:spPr>
          <a:xfrm flipH="false" flipV="false" rot="0"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defPPr/>
            <a:lvl1pPr algn="l" lvl="0">
              <a:defRPr b="true" cap="all" sz="4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60" name="Shape 60"/>
          <p:cNvSpPr txBox="true"/>
          <p:nvPr isPhoto="false">
            <p:ph idx="1" type="body"/>
          </p:nvPr>
        </p:nvSpPr>
        <p:spPr>
          <a:xfrm flipH="false" flipV="false" rot="0">
            <a:off x="722313" y="2906713"/>
            <a:ext cx="7772400" cy="1500186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lvl="1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lvl="2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lvl="3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lvl="4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lvl="5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lvl="6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lvl="7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lvl="8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61" name="Shape 61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62" name="Shape 62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63" name="Shape 63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46" name="GroupShape 4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7" name="Shape 4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48" name="Shape 48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49" name="Shape 49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50" name="Shape 50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51" name="GroupShape 5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2" name="Shape 5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53" name="Shape 53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defPPr/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54" name="Shape 54"/>
          <p:cNvSpPr txBox="true"/>
          <p:nvPr isPhoto="false">
            <p:ph idx="2" type="body"/>
          </p:nvPr>
        </p:nvSpPr>
        <p:spPr>
          <a:xfrm flipH="false" flipV="false" rot="0"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defPPr/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55" name="Shape 55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56" name="Shape 56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57" name="Shape 57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7" name="GroupShape 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" name="Shape 8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9" name="Shape 9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0" name="Shape 10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TxTwoObj">
  <p:cSld name="Comparison">
    <p:spTree>
      <p:nvGrpSpPr>
        <p:cNvPr hidden="false" id="24" name="GroupShape 2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5" name="Shape 25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26" name="Shape 26"/>
          <p:cNvSpPr txBox="true"/>
          <p:nvPr isPhoto="false">
            <p:ph idx="1" type="body"/>
          </p:nvPr>
        </p:nvSpPr>
        <p:spPr>
          <a:xfrm flipH="false" flipV="false" rot="0"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b="true" sz="2400"/>
            </a:lvl1pPr>
            <a:lvl2pPr indent="0" lvl="1" marL="457200">
              <a:buNone/>
              <a:defRPr b="true" sz="2000"/>
            </a:lvl2pPr>
            <a:lvl3pPr indent="0" lvl="2" marL="914400">
              <a:buNone/>
              <a:defRPr b="true" sz="1800"/>
            </a:lvl3pPr>
            <a:lvl4pPr indent="0" lvl="3" marL="1371600">
              <a:buNone/>
              <a:defRPr b="true" sz="1600"/>
            </a:lvl4pPr>
            <a:lvl5pPr indent="0" lvl="4" marL="1828800">
              <a:buNone/>
              <a:defRPr b="true" sz="1600"/>
            </a:lvl5pPr>
            <a:lvl6pPr indent="0" lvl="5" marL="2286000">
              <a:buNone/>
              <a:defRPr b="true" sz="1600"/>
            </a:lvl6pPr>
            <a:lvl7pPr indent="0" lvl="6" marL="2743200">
              <a:buNone/>
              <a:defRPr b="true" sz="1600"/>
            </a:lvl7pPr>
            <a:lvl8pPr indent="0" lvl="7" marL="3200400">
              <a:buNone/>
              <a:defRPr b="true" sz="1600"/>
            </a:lvl8pPr>
            <a:lvl9pPr indent="0" lvl="8" marL="3657600">
              <a:buNone/>
              <a:defRPr b="true" sz="16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27" name="Shape 27"/>
          <p:cNvSpPr txBox="true"/>
          <p:nvPr isPhoto="false">
            <p:ph idx="2" type="body"/>
          </p:nvPr>
        </p:nvSpPr>
        <p:spPr>
          <a:xfrm flipH="false" flipV="false" rot="0"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defPPr/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28" name="Shape 28"/>
          <p:cNvSpPr txBox="true"/>
          <p:nvPr isPhoto="false">
            <p:ph idx="3" type="body"/>
          </p:nvPr>
        </p:nvSpPr>
        <p:spPr>
          <a:xfrm flipH="false" flipV="false" rot="0"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b="true" sz="2400"/>
            </a:lvl1pPr>
            <a:lvl2pPr indent="0" lvl="1" marL="457200">
              <a:buNone/>
              <a:defRPr b="true" sz="2000"/>
            </a:lvl2pPr>
            <a:lvl3pPr indent="0" lvl="2" marL="914400">
              <a:buNone/>
              <a:defRPr b="true" sz="1800"/>
            </a:lvl3pPr>
            <a:lvl4pPr indent="0" lvl="3" marL="1371600">
              <a:buNone/>
              <a:defRPr b="true" sz="1600"/>
            </a:lvl4pPr>
            <a:lvl5pPr indent="0" lvl="4" marL="1828800">
              <a:buNone/>
              <a:defRPr b="true" sz="1600"/>
            </a:lvl5pPr>
            <a:lvl6pPr indent="0" lvl="5" marL="2286000">
              <a:buNone/>
              <a:defRPr b="true" sz="1600"/>
            </a:lvl6pPr>
            <a:lvl7pPr indent="0" lvl="6" marL="2743200">
              <a:buNone/>
              <a:defRPr b="true" sz="1600"/>
            </a:lvl7pPr>
            <a:lvl8pPr indent="0" lvl="7" marL="3200400">
              <a:buNone/>
              <a:defRPr b="true" sz="1600"/>
            </a:lvl8pPr>
            <a:lvl9pPr indent="0" lvl="8" marL="3657600">
              <a:buNone/>
              <a:defRPr b="true" sz="16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29" name="Shape 29"/>
          <p:cNvSpPr txBox="true"/>
          <p:nvPr isPhoto="false">
            <p:ph idx="4" type="body"/>
          </p:nvPr>
        </p:nvSpPr>
        <p:spPr>
          <a:xfrm flipH="false" flipV="false" rot="0"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defPPr/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30" name="Shape 30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31" name="Shape 31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32" name="Shape 32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Tx">
  <p:cSld name="Title, Text and Object">
    <p:spTree>
      <p:nvGrpSpPr>
        <p:cNvPr hidden="false" id="33" name="GroupShape 3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4" name="Shape 34"/>
          <p:cNvSpPr txBox="true"/>
          <p:nvPr isPhoto="false">
            <p:ph idx="0" type="title"/>
          </p:nvPr>
        </p:nvSpPr>
        <p:spPr>
          <a:xfrm flipH="false" flipV="false" rot="0"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defPPr/>
            <a:lvl1pPr algn="l" lvl="0">
              <a:defRPr b="true" sz="2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35" name="Shape 35"/>
          <p:cNvSpPr txBox="true"/>
          <p:nvPr isPhoto="false">
            <p:ph idx="1" type="body"/>
          </p:nvPr>
        </p:nvSpPr>
        <p:spPr>
          <a:xfrm flipH="false" flipV="false" rot="0"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defPPr/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36" name="Shape 36"/>
          <p:cNvSpPr txBox="true"/>
          <p:nvPr isPhoto="false">
            <p:ph idx="2" type="body"/>
          </p:nvPr>
        </p:nvSpPr>
        <p:spPr>
          <a:xfrm flipH="false" flipV="false" rot="0"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1400"/>
            </a:lvl1pPr>
            <a:lvl2pPr indent="0" lvl="1" marL="457200">
              <a:buNone/>
              <a:defRPr sz="1200"/>
            </a:lvl2pPr>
            <a:lvl3pPr indent="0" lvl="2" marL="914400">
              <a:buNone/>
              <a:defRPr sz="1000"/>
            </a:lvl3pPr>
            <a:lvl4pPr indent="0" lvl="3" marL="1371600">
              <a:buNone/>
              <a:defRPr sz="900"/>
            </a:lvl4pPr>
            <a:lvl5pPr indent="0" lvl="4" marL="1828800">
              <a:buNone/>
              <a:defRPr sz="900"/>
            </a:lvl5pPr>
            <a:lvl6pPr indent="0" lvl="5" marL="2286000">
              <a:buNone/>
              <a:defRPr sz="900"/>
            </a:lvl6pPr>
            <a:lvl7pPr indent="0" lvl="6" marL="2743200">
              <a:buNone/>
              <a:defRPr sz="900"/>
            </a:lvl7pPr>
            <a:lvl8pPr indent="0" lvl="7" marL="3200400">
              <a:buNone/>
              <a:defRPr sz="900"/>
            </a:lvl8pPr>
            <a:lvl9pPr indent="0" lvl="8" marL="3657600">
              <a:buNone/>
              <a:defRPr sz="9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37" name="Shape 37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38" name="Shape 38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39" name="Shape 39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picTx">
  <p:cSld name="Title and Picture">
    <p:spTree>
      <p:nvGrpSpPr>
        <p:cNvPr hidden="false" id="17" name="GroupShape 1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8" name="Shape 18"/>
          <p:cNvSpPr txBox="true"/>
          <p:nvPr isPhoto="false">
            <p:ph idx="0" type="title"/>
          </p:nvPr>
        </p:nvSpPr>
        <p:spPr>
          <a:xfrm flipH="false" flipV="false" rot="0">
            <a:off x="1792288" y="4800600"/>
            <a:ext cx="5486400" cy="566737"/>
          </a:xfrm>
          <a:prstGeom prst="rect">
            <a:avLst/>
          </a:prstGeom>
        </p:spPr>
        <p:txBody>
          <a:bodyPr anchor="b"/>
          <a:lstStyle>
            <a:defPPr/>
            <a:lvl1pPr algn="l" lvl="0">
              <a:defRPr b="true" sz="2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19" name="Shape 19"/>
          <p:cNvSpPr txBox="true"/>
          <p:nvPr isPhoto="false">
            <p:ph idx="1" type="body"/>
          </p:nvPr>
        </p:nvSpPr>
        <p:spPr>
          <a:xfrm flipH="false" flipV="false" rot="0"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3200"/>
            </a:lvl1pPr>
            <a:lvl2pPr indent="0" lvl="1" marL="457200">
              <a:buNone/>
              <a:defRPr sz="2800"/>
            </a:lvl2pPr>
            <a:lvl3pPr indent="0" lvl="2" marL="914400">
              <a:buNone/>
              <a:defRPr sz="2400"/>
            </a:lvl3pPr>
            <a:lvl4pPr indent="0" lvl="3" marL="1371600">
              <a:buNone/>
              <a:defRPr sz="2000"/>
            </a:lvl4pPr>
            <a:lvl5pPr indent="0" lvl="4" marL="1828800">
              <a:buNone/>
              <a:defRPr sz="2000"/>
            </a:lvl5pPr>
            <a:lvl6pPr indent="0" lvl="5" marL="2286000">
              <a:buNone/>
              <a:defRPr sz="2000"/>
            </a:lvl6pPr>
            <a:lvl7pPr indent="0" lvl="6" marL="2743200">
              <a:buNone/>
              <a:defRPr sz="2000"/>
            </a:lvl7pPr>
            <a:lvl8pPr indent="0" lvl="7" marL="3200400">
              <a:buNone/>
              <a:defRPr sz="2000"/>
            </a:lvl8pPr>
            <a:lvl9pPr indent="0" lvl="8" marL="3657600">
              <a:buNone/>
              <a:defRPr sz="2000"/>
            </a:lvl9pPr>
          </a:lstStyle>
          <a:p/>
        </p:txBody>
      </p:sp>
      <p:sp>
        <p:nvSpPr>
          <p:cNvPr hidden="false" id="20" name="Shape 20"/>
          <p:cNvSpPr txBox="true"/>
          <p:nvPr isPhoto="false">
            <p:ph idx="2" type="body"/>
          </p:nvPr>
        </p:nvSpPr>
        <p:spPr>
          <a:xfrm flipH="false" flipV="false" rot="0"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1400"/>
            </a:lvl1pPr>
            <a:lvl2pPr indent="0" lvl="1" marL="457200">
              <a:buNone/>
              <a:defRPr sz="1200"/>
            </a:lvl2pPr>
            <a:lvl3pPr indent="0" lvl="2" marL="914400">
              <a:buNone/>
              <a:defRPr sz="1000"/>
            </a:lvl3pPr>
            <a:lvl4pPr indent="0" lvl="3" marL="1371600">
              <a:buNone/>
              <a:defRPr sz="900"/>
            </a:lvl4pPr>
            <a:lvl5pPr indent="0" lvl="4" marL="1828800">
              <a:buNone/>
              <a:defRPr sz="900"/>
            </a:lvl5pPr>
            <a:lvl6pPr indent="0" lvl="5" marL="2286000">
              <a:buNone/>
              <a:defRPr sz="900"/>
            </a:lvl6pPr>
            <a:lvl7pPr indent="0" lvl="6" marL="2743200">
              <a:buNone/>
              <a:defRPr sz="900"/>
            </a:lvl7pPr>
            <a:lvl8pPr indent="0" lvl="7" marL="3200400">
              <a:buNone/>
              <a:defRPr sz="900"/>
            </a:lvl8pPr>
            <a:lvl9pPr indent="0" lvl="8" marL="3657600">
              <a:buNone/>
              <a:defRPr sz="9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21" name="Shape 21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22" name="Shape 22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23" name="Shape 23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vertTx">
  <p:cSld name="Title and Vertical Text">
    <p:spTree>
      <p:nvGrpSpPr>
        <p:cNvPr hidden="false" id="11" name="GroupShape 1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" name="Shape 1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13" name="Shape 13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14" name="Shape 14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15" name="Shape 15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6" name="Shape 16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vertTitleAndTx">
  <p:cSld name="Vertical Title and Text">
    <p:spTree>
      <p:nvGrpSpPr>
        <p:cNvPr hidden="false" id="64" name="GroupShape 6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5" name="Shape 65"/>
          <p:cNvSpPr txBox="true"/>
          <p:nvPr isPhoto="false">
            <p:ph idx="0" type="title"/>
          </p:nvPr>
        </p:nvSpPr>
        <p:spPr>
          <a:xfrm flipH="false" flipV="false" rot="0"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66" name="Shape 66"/>
          <p:cNvSpPr txBox="true"/>
          <p:nvPr isPhoto="false">
            <p:ph idx="1" type="body"/>
          </p:nvPr>
        </p:nvSpPr>
        <p:spPr>
          <a:xfrm flipH="false" flipV="false" rot="0"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67" name="Shape 67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68" name="Shape 68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69" name="Shape 69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‹#›</a:t>
            </a:r>
          </a:p>
        </p:txBody>
      </p:sp>
    </p:spTree>
  </p:cSld>
</p:sldLayout>
</file>

<file path=ppt/slideMasters/_rels/slideMaster1.xml.rels><?xml version="1.0" encoding="UTF-8" standalone="no" ?>
<Relationships xmlns="http://schemas.openxmlformats.org/package/2006/relationships">
  <Relationship Id="rId6" Target="../slideLayouts/slideLayout5.xml" Type="http://schemas.openxmlformats.org/officeDocument/2006/relationships/slideLayout"/>
  <Relationship Id="rId1" Target="../theme/theme1.xml" Type="http://schemas.openxmlformats.org/officeDocument/2006/relationships/theme"/>
  <Relationship Id="rId12" Target="../slideLayouts/slideLayout11.xml" Type="http://schemas.openxmlformats.org/officeDocument/2006/relationships/slideLayout"/>
  <Relationship Id="rId10" Target="../slideLayouts/slideLayout9.xml" Type="http://schemas.openxmlformats.org/officeDocument/2006/relationships/slideLayout"/>
  <Relationship Id="rId2" Target="../slideLayouts/slideLayout1.xml" Type="http://schemas.openxmlformats.org/officeDocument/2006/relationships/slideLayout"/>
  <Relationship Id="rId3" Target="../slideLayouts/slideLayout2.xml" Type="http://schemas.openxmlformats.org/officeDocument/2006/relationships/slideLayout"/>
  <Relationship Id="rId8" Target="../slideLayouts/slideLayout7.xml" Type="http://schemas.openxmlformats.org/officeDocument/2006/relationships/slideLayout"/>
  <Relationship Id="rId4" Target="../slideLayouts/slideLayout3.xml" Type="http://schemas.openxmlformats.org/officeDocument/2006/relationships/slideLayout"/>
  <Relationship Id="rId11" Target="../slideLayouts/slideLayout10.xml" Type="http://schemas.openxmlformats.org/officeDocument/2006/relationships/slideLayout"/>
  <Relationship Id="rId9" Target="../slideLayouts/slideLayout8.xml" Type="http://schemas.openxmlformats.org/officeDocument/2006/relationships/slideLayout"/>
  <Relationship Id="rId7" Target="../slideLayouts/slideLayout6.xml" Type="http://schemas.openxmlformats.org/officeDocument/2006/relationships/slideLayout"/>
  <Relationship Id="rId5" Target="../slideLayouts/slideLayout4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Ref idx="1001">
        <a:schemeClr val="bg1"/>
      </p:bgRef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" name="Shape 2"/>
          <p:cNvSpPr txBox="true"/>
          <p:nvPr isPhoto="false">
            <p:ph idx="0" type="title"/>
          </p:nvPr>
        </p:nvSpPr>
        <p:spPr>
          <a:xfrm flipH="false" flipV="false" rot="0"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tIns="45720" vert="horz">
            <a:normAutofit fontScale="100%" lnSpcReduction="0%"/>
          </a:bodyPr>
          <a:p>
            <a:r>
              <a:t>Click to edit Master title style</a:t>
            </a:r>
          </a:p>
        </p:txBody>
      </p:sp>
      <p:sp>
        <p:nvSpPr>
          <p:cNvPr hidden="false" id="3" name="Shape 3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tIns="45720" vert="horz">
            <a:normAutofit fontScale="100%" lnSpcReduction="0%"/>
          </a:bodyPr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4" name="Shape 4"/>
          <p:cNvSpPr txBox="true"/>
          <p:nvPr isPhoto="false">
            <p:ph idx="2" type="dt"/>
          </p:nvPr>
        </p:nvSpPr>
        <p:spPr>
          <a:xfrm flipH="false" flipV="false" rot="0"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l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1/27/13</a:t>
            </a:r>
          </a:p>
        </p:txBody>
      </p:sp>
      <p:sp>
        <p:nvSpPr>
          <p:cNvPr hidden="false" id="5" name="Shape 5"/>
          <p:cNvSpPr txBox="true"/>
          <p:nvPr isPhoto="false">
            <p:ph idx="3" type="ftr"/>
          </p:nvPr>
        </p:nvSpPr>
        <p:spPr>
          <a:xfrm flipH="false" flipV="false" rot="0"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ctr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hidden="false" id="6" name="Shape 6"/>
          <p:cNvSpPr txBox="true"/>
          <p:nvPr isPhoto="false">
            <p:ph idx="4" type="sldNum"/>
          </p:nvPr>
        </p:nvSpPr>
        <p:spPr>
          <a:xfrm flipH="false" flipV="false" rot="0"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r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‹#›</a:t>
            </a: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defPPr/>
      <a:lvl1pPr algn="ctr" lvl="0"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/>
      <a:lvl1pPr algn="l" indent="-342900" lvl="0" marL="342900"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indent="-285750" lvl="1" marL="742950"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algn="l" indent="-228600" lvl="2" marL="1143000"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algn="l" indent="-228600" lvl="3" marL="1600200"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algn="l" indent="-228600" lvl="4" marL="2057400"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algn="l" indent="-228600" lvl="5" marL="25146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algn="l" indent="-228600" lvl="6" marL="29718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algn="l" indent="-228600" lvl="7" marL="34290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algn="l" indent="-228600" lvl="8" marL="38862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algn="l" indent="0" lvl="0" mar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algn="l" indent="0" lvl="1" marL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algn="l" indent="0" lvl="2" marL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algn="l" indent="0" lvl="3" marL="13716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algn="l" indent="0" lvl="4" marL="18288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algn="l" indent="0" lvl="5" marL="22860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algn="l" indent="0" lvl="6" marL="2743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algn="l" indent="0" lvl="7" marL="3200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algn="l" indent="0" lvl="8" marL="36576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4.xml.rels><?xml version="1.0" encoding="UTF-8" standalone="no" ?>
<Relationships xmlns="http://schemas.openxmlformats.org/package/2006/relationships">
  <Relationship Id="rId1" Target="http://localhost:8501/" TargetMode="External" Type="http://schemas.openxmlformats.org/officeDocument/2006/relationships/hyperlink"/>
  <Relationship Id="rId2" Target="../slideLayouts/slideLayout2.xml" Type="http://schemas.openxmlformats.org/officeDocument/2006/relationships/slideLayout"/>
</Relationships>

</file>

<file path=ppt/slides/_rels/slide5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6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7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8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slide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76" name="GroupShape 7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7" name="Shape 7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Платформа контроля реестров</a:t>
            </a:r>
          </a:p>
        </p:txBody>
      </p:sp>
      <p:sp>
        <p:nvSpPr>
          <p:cNvPr hidden="false" id="78" name="Shape 78"/>
          <p:cNvSpPr txBox="true"/>
          <p:nvPr isPhoto="false">
            <p:ph idx="1" type="sub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MVP пилот для автоматизации финансового контроля</a:t>
            </a:r>
          </a:p>
        </p:txBody>
      </p:sp>
    </p:spTree>
  </p:cSld>
</p:sld>
</file>

<file path=ppt/slides/slide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79" name="GroupShape 7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0" name="Shape 80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Проблема</a:t>
            </a:r>
          </a:p>
        </p:txBody>
      </p:sp>
      <p:sp>
        <p:nvSpPr>
          <p:cNvPr hidden="false" id="81" name="Shape 81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• Ручной контроль реестров</a:t>
            </a:r>
          </a:p>
          <a:p>
            <a:r>
              <a:t>• Разрозненные данные (контракты, документы, имущество)</a:t>
            </a:r>
          </a:p>
          <a:p>
            <a:r>
              <a:t>• Высокие трудозатраты</a:t>
            </a:r>
          </a:p>
          <a:p>
            <a:r>
              <a:t>• Нет фокуса на отклонениях и рисках</a:t>
            </a:r>
          </a:p>
        </p:txBody>
      </p:sp>
    </p:spTree>
  </p:cSld>
</p:sld>
</file>

<file path=ppt/slides/slide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2" name="GroupShape 8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3" name="Shape 83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Цель решения</a:t>
            </a:r>
          </a:p>
        </p:txBody>
      </p:sp>
      <p:sp>
        <p:nvSpPr>
          <p:cNvPr hidden="false" id="84" name="Shape 84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• Автоматизация анализа реестров</a:t>
            </a:r>
          </a:p>
          <a:p>
            <a:r>
              <a:t>• Выделение только задач к отработке</a:t>
            </a:r>
          </a:p>
          <a:p>
            <a:r>
              <a:t>• Приоритизация рисков (High / Medium)</a:t>
            </a:r>
          </a:p>
          <a:p>
            <a:r>
              <a:t>• Формирование управленческого отчета</a:t>
            </a:r>
          </a:p>
        </p:txBody>
      </p:sp>
    </p:spTree>
  </p:cSld>
</p:sld>
</file>

<file path=ppt/slides/slide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5" name="GroupShape 8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6" name="Shape 86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Как работает система</a:t>
            </a:r>
          </a:p>
        </p:txBody>
      </p:sp>
      <p:sp>
        <p:nvSpPr>
          <p:cNvPr hidden="false" id="87" name="Shape 87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• Загрузка 3 реестров</a:t>
            </a:r>
          </a:p>
          <a:p>
            <a:r>
              <a:t>• Автоматический анализ данных</a:t>
            </a:r>
          </a:p>
          <a:p>
            <a:r>
              <a:t>• Выделение проблемных записей</a:t>
            </a:r>
          </a:p>
          <a:p>
            <a:r>
              <a:t>• Формирование Excel-отчета</a:t>
            </a:r>
          </a:p>
          <a:p>
            <a:pPr indent="0" marL="0">
              <a:buNone/>
            </a:pPr>
          </a:p>
          <a:p>
            <a:pPr indent="0" marL="0">
              <a:buNone/>
            </a:pPr>
            <a:r>
              <a:rPr u="sng">
                <a:solidFill>
                  <a:srgbClr val="0000FF"/>
                </a:solidFill>
                <a:hlinkClick r:id="rId1"/>
              </a:rPr>
              <a:t>http://localhost:8501/</a:t>
            </a:r>
            <a:r>
              <a:t> </a:t>
            </a:r>
          </a:p>
        </p:txBody>
      </p:sp>
    </p:spTree>
  </p:cSld>
</p:sld>
</file>

<file path=ppt/slides/slide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8" name="GroupShape 8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9" name="Shape 89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Логика анализа</a:t>
            </a:r>
          </a:p>
        </p:txBody>
      </p:sp>
      <p:sp>
        <p:nvSpPr>
          <p:cNvPr hidden="false" id="90" name="Shape 90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• Контракты → истекающие / на перезаключение (High)</a:t>
            </a:r>
          </a:p>
          <a:p>
            <a:pPr indent="0" marL="0" marR="0">
              <a:spcBef>
                <a:spcPts val="1344"/>
              </a:spcBef>
              <a:spcAft>
                <a:spcPts val="1344"/>
              </a:spcAft>
            </a:pPr>
            <a:r>
              <a:t>Попадают в отчет, если:</a:t>
            </a:r>
          </a:p>
          <a:p>
            <a:pPr indent="0" lvl="0" marL="381000" marR="0">
              <a:spcBef>
                <a:spcPts val="1344"/>
              </a:spcBef>
              <a:spcAft>
                <a:spcPts val="1344"/>
              </a:spcAft>
              <a:buFont typeface="Symbol"/>
              <a:buChar char=""/>
            </a:pPr>
            <a:r>
              <a:t>До окончания срока действия контракта ≤ 30 дней → </a:t>
            </a:r>
            <a:r>
              <a:rPr b="true"/>
              <a:t>High Priority</a:t>
            </a:r>
            <a:endParaRPr b="true"/>
          </a:p>
          <a:p>
            <a:pPr indent="0" lvl="0" marL="381000" marR="0">
              <a:spcBef>
                <a:spcPts val="1344"/>
              </a:spcBef>
              <a:spcAft>
                <a:spcPts val="1344"/>
              </a:spcAft>
              <a:buFont typeface="Symbol"/>
              <a:buChar char=""/>
            </a:pPr>
            <a:r>
              <a:t>Срок действия контракта истёк → </a:t>
            </a:r>
            <a:r>
              <a:rPr b="true"/>
              <a:t>High Priority</a:t>
            </a:r>
            <a:endParaRPr b="true"/>
          </a:p>
          <a:p>
            <a:pPr indent="0" lvl="0" marL="381000" marR="0">
              <a:spcBef>
                <a:spcPts val="1344"/>
              </a:spcBef>
              <a:spcAft>
                <a:spcPts val="1344"/>
              </a:spcAft>
              <a:buFont typeface="Symbol"/>
              <a:buChar char=""/>
            </a:pPr>
            <a:r>
              <a:t>Статус сотрудничества = “прекращено” </a:t>
            </a:r>
          </a:p>
          <a:p>
            <a:pPr indent="0" lvl="0" marL="381000" marR="0">
              <a:spcBef>
                <a:spcPts val="1344"/>
              </a:spcBef>
              <a:spcAft>
                <a:spcPts val="1344"/>
              </a:spcAft>
              <a:buFont typeface="Symbol"/>
              <a:buChar char=""/>
            </a:pPr>
            <a:r>
              <a:t>Отсутствует продление / перезаключение при близком сроке окончания</a:t>
            </a:r>
          </a:p>
          <a:p>
            <a:r>
              <a:t>• Документы → на актуализацию (Medium)</a:t>
            </a:r>
          </a:p>
          <a:p>
            <a:r>
              <a:t>Срок актуальности истекает в течение </a:t>
            </a:r>
            <a:r>
              <a:rPr b="true"/>
              <a:t>≤ 4 месяцев</a:t>
            </a:r>
          </a:p>
          <a:p>
            <a:r>
              <a:t>• Имущество → нарушения учета (High)</a:t>
            </a:r>
          </a:p>
          <a:p>
            <a:pPr indent="0" marL="76200" marR="76200">
              <a:spcBef>
                <a:spcPts val="600"/>
              </a:spcBef>
              <a:spcAft>
                <a:spcPts val="600"/>
              </a:spcAft>
            </a:pPr>
            <a:r>
              <a:t>Отсутствует расписка (ноутбуки, тестовые девайсы)</a:t>
            </a:r>
          </a:p>
          <a:p>
            <a:pPr indent="0" marL="76200" marR="76200">
              <a:spcBef>
                <a:spcPts val="600"/>
              </a:spcBef>
              <a:spcAft>
                <a:spcPts val="600"/>
              </a:spcAft>
            </a:pPr>
            <a:r>
              <a:t>Имущество закреплено за уволенным сотрудником</a:t>
            </a:r>
          </a:p>
          <a:p/>
          <a:p>
            <a:r>
              <a:t>• Фокус только на отклонениях</a:t>
            </a:r>
          </a:p>
        </p:txBody>
      </p:sp>
    </p:spTree>
  </p:cSld>
</p:sld>
</file>

<file path=ppt/slides/slide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1" name="GroupShape 9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2" name="Shape 9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Результат</a:t>
            </a:r>
          </a:p>
        </p:txBody>
      </p:sp>
      <p:sp>
        <p:nvSpPr>
          <p:cNvPr hidden="false" id="93" name="Shape 93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• Excel отчет с 3 листами:</a:t>
            </a:r>
          </a:p>
          <a:p>
            <a:r>
              <a:t>  - Contracts_to_work</a:t>
            </a:r>
          </a:p>
          <a:p>
            <a:r>
              <a:t>  - Documents_to_update</a:t>
            </a:r>
          </a:p>
          <a:p>
            <a:r>
              <a:t>  - Assets_issues</a:t>
            </a:r>
          </a:p>
          <a:p>
            <a:r>
              <a:t>• Колонка Priority (High / Medium)</a:t>
            </a:r>
          </a:p>
        </p:txBody>
      </p:sp>
    </p:spTree>
  </p:cSld>
</p:sld>
</file>

<file path=ppt/slides/slide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4" name="GroupShape 9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5" name="Shape 95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Бизнес-эффект</a:t>
            </a:r>
          </a:p>
        </p:txBody>
      </p:sp>
      <p:sp>
        <p:nvSpPr>
          <p:cNvPr hidden="false" id="96" name="Shape 96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• Снижение ручного труда</a:t>
            </a:r>
          </a:p>
          <a:p>
            <a:r>
              <a:t>• Ускорение контроля реестров</a:t>
            </a:r>
          </a:p>
          <a:p>
            <a:r>
              <a:t>• Снижение операционных рисков</a:t>
            </a:r>
          </a:p>
          <a:p>
            <a:r>
              <a:t>• Повышение прозрачности данных</a:t>
            </a:r>
          </a:p>
        </p:txBody>
      </p:sp>
    </p:spTree>
  </p:cSld>
</p:sld>
</file>

<file path=ppt/slides/slide8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7" name="GroupShape 9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8" name="Shape 9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Итог</a:t>
            </a:r>
          </a:p>
        </p:txBody>
      </p:sp>
      <p:sp>
        <p:nvSpPr>
          <p:cNvPr hidden="false" id="99" name="Shape 99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• MVP готов к масштабированию</a:t>
            </a:r>
          </a:p>
          <a:p>
            <a:r>
              <a:t>• Основа для интеграции с ERP</a:t>
            </a:r>
          </a:p>
          <a:p>
            <a:r>
              <a:t>• Возможность расширения на другие процессы</a:t>
            </a:r>
          </a:p>
          <a:p>
            <a:r>
              <a:t>• Переход к управлению через данные</a:t>
            </a:r>
          </a:p>
        </p:txBody>
      </p:sp>
    </p:spTree>
  </p:cSld>
</p:sld>
</file>

<file path=ppt/theme/theme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MyOffice-CoreFramework-Windows/35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terms:modified xsi:type="dcterms:W3CDTF">2026-05-23T17:02:28Z</dcterms:modified>
</cp:coreProperties>
</file>